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16765422" r:id="rId4"/>
    <p:sldId id="1676542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84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07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54388" y="269748"/>
            <a:ext cx="4114800" cy="5256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 dirty="0" err="1">
                <a:solidFill>
                  <a:srgbClr val="C00000"/>
                </a:solidFill>
                <a:latin typeface="Microsoft YaHei"/>
              </a:rPr>
              <a:t>二、学生住宿市场</a:t>
            </a:r>
            <a:endParaRPr sz="2400" b="1" dirty="0">
              <a:solidFill>
                <a:srgbClr val="C0000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3508" y="969558"/>
            <a:ext cx="11155680" cy="42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dirty="0">
                <a:solidFill>
                  <a:srgbClr val="C00000"/>
                </a:solidFill>
                <a:latin typeface="Microsoft YaHei"/>
              </a:rPr>
              <a:t>1、</a:t>
            </a:r>
            <a:r>
              <a:rPr sz="1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校内学生宿舍供给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7" y="1412748"/>
            <a:ext cx="115488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Microsoft YaHei"/>
              </a:rPr>
              <a:t>校内宿位一览</a:t>
            </a:r>
            <a:endParaRPr sz="1100" b="1" dirty="0">
              <a:solidFill>
                <a:srgbClr val="FFFFFF"/>
              </a:solidFill>
              <a:latin typeface="Microsoft YaHe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15468" y="1801368"/>
          <a:ext cx="11548871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8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宿位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住宿模式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费用参考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崇基学院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1,448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四年一宿·申请制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16,826/年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按书院计分分配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新亚书院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1,470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四年一宿·申请制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17,280/年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N-2：首两年后须遴选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联合书院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1,538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四年一宿·申请制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见书院公布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非本地生保证首两年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逸夫书院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1,211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四年一宿·申请制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见书院公布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按书院计分分配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晨兴书院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Microsoft YaHei"/>
                        </a:rPr>
                        <a:t>全宿共膳·四年住校</a:t>
                      </a:r>
                      <a:endParaRPr sz="1000" b="1" dirty="0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见书院公布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非本地生不可选校外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善衡书院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Microsoft YaHei"/>
                        </a:rPr>
                        <a:t>全宿共膳·四年住校</a:t>
                      </a:r>
                      <a:endParaRPr sz="1000" b="1" dirty="0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见书院公布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非本地生不可选校外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敬文书院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302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Microsoft YaHei"/>
                        </a:rPr>
                        <a:t>全宿共膳·四年住校</a:t>
                      </a:r>
                      <a:endParaRPr sz="1000" b="1" dirty="0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17,774/年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非本地生不可选校外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伍宜孙书院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604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四年一宿·申请制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见书院公布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按书院计分分配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和声书院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四年一宿·申请制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见书院公布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按书院计分分配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国际生堂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 I-House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~598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本科生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OSA 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管理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非书院设施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研究生宿舍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 PGH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1,000–1,500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研究式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教资会修课式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1,685–4,055/月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修课式研无校内宿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431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蔡继有宿舍（联合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250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2025 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启用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联合书院官网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新建扩容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437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崇基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 E 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计划双子楼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+300（在建）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Microsoft YaHei"/>
                        </a:rPr>
                        <a:t>2026/27 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落成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中大新闻稿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在建扩容</a:t>
                      </a:r>
                      <a:endParaRPr sz="1000" b="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BD45C36-CAE9-9607-5E97-FC962EEE674A}"/>
              </a:ext>
            </a:extLst>
          </p:cNvPr>
          <p:cNvSpPr/>
          <p:nvPr/>
        </p:nvSpPr>
        <p:spPr>
          <a:xfrm>
            <a:off x="0" y="1003439"/>
            <a:ext cx="12192000" cy="36195"/>
          </a:xfrm>
          <a:prstGeom prst="rect">
            <a:avLst/>
          </a:prstGeom>
          <a:gradFill flip="none" rotWithShape="1">
            <a:gsLst>
              <a:gs pos="25000">
                <a:srgbClr val="C00000"/>
              </a:gs>
              <a:gs pos="65000">
                <a:schemeClr val="accent1">
                  <a:lumMod val="20000"/>
                  <a:lumOff val="8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12" tIns="51956" rIns="103912" bIns="51956" rtlCol="0" anchor="ctr"/>
          <a:lstStyle/>
          <a:p>
            <a:endParaRPr lang="en-US" altLang="zh-CN" sz="1865" b="1" dirty="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15051" y="288036"/>
            <a:ext cx="4114800" cy="5256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 dirty="0" err="1">
                <a:solidFill>
                  <a:srgbClr val="C00000"/>
                </a:solidFill>
                <a:latin typeface="Microsoft YaHei"/>
              </a:rPr>
              <a:t>二、学生住宿市场</a:t>
            </a:r>
            <a:endParaRPr sz="2400" b="1" dirty="0">
              <a:solidFill>
                <a:srgbClr val="C0000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7863" y="1067065"/>
            <a:ext cx="11155680" cy="417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Microsoft YaHei"/>
              </a:rPr>
              <a:t>2</a:t>
            </a:r>
            <a:r>
              <a:rPr sz="1800" b="1" dirty="0">
                <a:solidFill>
                  <a:srgbClr val="C00000"/>
                </a:solidFill>
                <a:latin typeface="Microsoft YaHei"/>
              </a:rPr>
              <a:t>、中大住宿需求缺口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24000"/>
            <a:ext cx="55321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chemeClr val="tx1"/>
                </a:solidFill>
                <a:latin typeface="Microsoft YaHei"/>
              </a:rPr>
              <a:t>本科住宿供需</a:t>
            </a:r>
            <a:endParaRPr sz="1100" b="1" dirty="0">
              <a:solidFill>
                <a:schemeClr val="tx1"/>
              </a:solidFill>
              <a:latin typeface="Microsoft YaHe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889760"/>
          <a:ext cx="553212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553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数字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在校生（2024）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18,438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非本地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 2,696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校内宿位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~9,500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九书院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 + I-House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校内覆盖率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约 52%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9,500 / 18,438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6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校外需求（粗算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9,000+ 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人次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未获宿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 + 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高年级搬出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535680"/>
            <a:ext cx="5532120" cy="868680"/>
          </a:xfrm>
          <a:prstGeom prst="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3608832"/>
            <a:ext cx="5349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 err="1">
                <a:solidFill>
                  <a:srgbClr val="666666"/>
                </a:solidFill>
                <a:latin typeface="Microsoft YaHei"/>
              </a:rPr>
              <a:t>校内覆盖率</a:t>
            </a:r>
            <a:endParaRPr sz="900" b="0" dirty="0">
              <a:solidFill>
                <a:srgbClr val="666666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79" y="3828287"/>
            <a:ext cx="5349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dirty="0">
                <a:solidFill>
                  <a:srgbClr val="C00000"/>
                </a:solidFill>
                <a:latin typeface="Microsoft YaHei"/>
              </a:rPr>
              <a:t>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194047"/>
            <a:ext cx="5349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dirty="0">
                <a:solidFill>
                  <a:srgbClr val="666666"/>
                </a:solidFill>
                <a:latin typeface="Microsoft YaHei"/>
              </a:rPr>
              <a:t>9,500 / 18,438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0196" y="1524000"/>
            <a:ext cx="55321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chemeClr val="tx1"/>
                </a:solidFill>
                <a:latin typeface="Microsoft YaHei"/>
              </a:rPr>
              <a:t>研究生住宿供需</a:t>
            </a:r>
            <a:endParaRPr sz="1100" b="1" dirty="0">
              <a:solidFill>
                <a:schemeClr val="tx1"/>
              </a:solidFill>
              <a:latin typeface="Microsoft YaHei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40196" y="1889760"/>
          <a:ext cx="553212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553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数字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在校生（2024）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6,349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非本地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 1,699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PGH 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研宿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~1,100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研究式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 / 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教资会修课式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校内覆盖率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约 17%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1,100 / 6,349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6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结构性缺口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修课式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兼读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自资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OSA：不提供校内住宿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140196" y="3535680"/>
            <a:ext cx="5532120" cy="868680"/>
          </a:xfrm>
          <a:prstGeom prst="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1635" y="3608832"/>
            <a:ext cx="5349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666666"/>
                </a:solidFill>
                <a:latin typeface="Microsoft YaHei"/>
              </a:rPr>
              <a:t>PGH </a:t>
            </a:r>
            <a:r>
              <a:rPr sz="900" b="0" dirty="0" err="1">
                <a:solidFill>
                  <a:srgbClr val="666666"/>
                </a:solidFill>
                <a:latin typeface="Microsoft YaHei"/>
              </a:rPr>
              <a:t>覆盖率</a:t>
            </a:r>
            <a:endParaRPr sz="900" b="0" dirty="0">
              <a:solidFill>
                <a:srgbClr val="666666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31635" y="3828287"/>
            <a:ext cx="5349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dirty="0">
                <a:solidFill>
                  <a:srgbClr val="C00000"/>
                </a:solidFill>
                <a:latin typeface="Microsoft YaHei"/>
              </a:rPr>
              <a:t>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1635" y="4194047"/>
            <a:ext cx="5349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dirty="0">
                <a:solidFill>
                  <a:srgbClr val="666666"/>
                </a:solidFill>
                <a:latin typeface="Microsoft YaHei"/>
              </a:rPr>
              <a:t>1,100 / 6,349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20184"/>
            <a:ext cx="115488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Microsoft YaHei"/>
              </a:rPr>
              <a:t>深港双城租住：香港入读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·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深圳居住</a:t>
            </a:r>
            <a:endParaRPr sz="1100" b="1" dirty="0">
              <a:solidFill>
                <a:srgbClr val="FFFFFF"/>
              </a:solidFill>
              <a:latin typeface="Microsoft YaHei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4904232"/>
          <a:ext cx="1154887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5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数据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/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区间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罗湖服务式公寓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约40%租客为学生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辉盛名致试业；325套房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香港合租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1.5–3万元/月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校内附近400–600呎，2–3人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香港学生宿舍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5,000–1.4万元/月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商业宿舍80–200呎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深圳福田口岸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一房约5千元/月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约400+呎；两房约7千元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中大跨境通勤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约40–60分钟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东铁大学站↔罗湖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福田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9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莲塘</a:t>
                      </a:r>
                      <a:endParaRPr sz="9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0040" y="6236208"/>
            <a:ext cx="11548872" cy="278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 err="1">
                <a:latin typeface="Microsoft YaHei"/>
              </a:rPr>
              <a:t>校内宿位不足</a:t>
            </a:r>
            <a:r>
              <a:rPr sz="1050" b="0" dirty="0">
                <a:latin typeface="Microsoft YaHei"/>
              </a:rPr>
              <a:t> → </a:t>
            </a:r>
            <a:r>
              <a:rPr sz="1050" b="0" dirty="0" err="1">
                <a:latin typeface="Microsoft YaHei"/>
              </a:rPr>
              <a:t>校外香港租务承压</a:t>
            </a:r>
            <a:r>
              <a:rPr sz="1050" b="0" dirty="0">
                <a:latin typeface="Microsoft YaHei"/>
              </a:rPr>
              <a:t> → </a:t>
            </a:r>
            <a:r>
              <a:rPr sz="1050" b="0" dirty="0" err="1">
                <a:latin typeface="Microsoft YaHei"/>
              </a:rPr>
              <a:t>部分</a:t>
            </a:r>
            <a:r>
              <a:rPr lang="zh-CN" altLang="en-US" sz="1050" b="0" dirty="0">
                <a:latin typeface="Microsoft YaHei"/>
              </a:rPr>
              <a:t>学生</a:t>
            </a:r>
            <a:r>
              <a:rPr sz="1050" b="0" dirty="0" err="1">
                <a:latin typeface="Microsoft YaHei"/>
              </a:rPr>
              <a:t>北上深圳（租金约为香港</a:t>
            </a:r>
            <a:r>
              <a:rPr sz="1050" b="0" dirty="0">
                <a:latin typeface="Microsoft YaHei"/>
              </a:rPr>
              <a:t> 1/3–1/2，但需每日跨境）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82D8C4-DF51-76D3-28FF-A4A38B2A8947}"/>
              </a:ext>
            </a:extLst>
          </p:cNvPr>
          <p:cNvSpPr/>
          <p:nvPr/>
        </p:nvSpPr>
        <p:spPr>
          <a:xfrm>
            <a:off x="0" y="1003439"/>
            <a:ext cx="12192000" cy="36195"/>
          </a:xfrm>
          <a:prstGeom prst="rect">
            <a:avLst/>
          </a:prstGeom>
          <a:gradFill flip="none" rotWithShape="1">
            <a:gsLst>
              <a:gs pos="25000">
                <a:srgbClr val="C00000"/>
              </a:gs>
              <a:gs pos="65000">
                <a:schemeClr val="accent1">
                  <a:lumMod val="20000"/>
                  <a:lumOff val="8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12" tIns="51956" rIns="103912" bIns="51956" rtlCol="0" anchor="ctr"/>
          <a:lstStyle/>
          <a:p>
            <a:endParaRPr lang="en-US" altLang="zh-CN" sz="1865" b="1" dirty="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003439"/>
            <a:ext cx="12192000" cy="36195"/>
          </a:xfrm>
          <a:prstGeom prst="rect">
            <a:avLst/>
          </a:prstGeom>
          <a:gradFill flip="none" rotWithShape="1">
            <a:gsLst>
              <a:gs pos="25000">
                <a:srgbClr val="C00000"/>
              </a:gs>
              <a:gs pos="65000">
                <a:schemeClr val="accent1">
                  <a:lumMod val="20000"/>
                  <a:lumOff val="8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12" tIns="51956" rIns="103912" bIns="51956" rtlCol="0" anchor="ctr"/>
          <a:lstStyle/>
          <a:p>
            <a:endParaRPr lang="en-US" altLang="zh-CN" sz="1865" b="1" dirty="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占位符 1"/>
          <p:cNvSpPr txBox="1"/>
          <p:nvPr/>
        </p:nvSpPr>
        <p:spPr>
          <a:xfrm>
            <a:off x="3759201" y="349371"/>
            <a:ext cx="7374238" cy="551090"/>
          </a:xfrm>
          <a:prstGeom prst="rect">
            <a:avLst/>
          </a:prstGeom>
        </p:spPr>
        <p:txBody>
          <a:bodyPr vert="horz" wrap="square" lIns="0" tIns="90000" rIns="0" bIns="90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五、市场分析 </a:t>
            </a:r>
            <a:endParaRPr lang="zh-CN" altLang="zh-TW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" name="组合 4"/>
          <p:cNvGrpSpPr/>
          <p:nvPr/>
        </p:nvGrpSpPr>
        <p:grpSpPr>
          <a:xfrm>
            <a:off x="563879" y="1327036"/>
            <a:ext cx="5155145" cy="400110"/>
            <a:chOff x="413027" y="1021114"/>
            <a:chExt cx="5155145" cy="400110"/>
          </a:xfrm>
        </p:grpSpPr>
        <p:grpSp>
          <p:nvGrpSpPr>
            <p:cNvPr id="5" name="组合 5"/>
            <p:cNvGrpSpPr/>
            <p:nvPr/>
          </p:nvGrpSpPr>
          <p:grpSpPr>
            <a:xfrm>
              <a:off x="413027" y="1113834"/>
              <a:ext cx="294640" cy="276225"/>
              <a:chOff x="413027" y="1137965"/>
              <a:chExt cx="294640" cy="276225"/>
            </a:xfrm>
          </p:grpSpPr>
          <p:sp>
            <p:nvSpPr>
              <p:cNvPr id="7" name="矩形 7"/>
              <p:cNvSpPr/>
              <p:nvPr userDrawn="1"/>
            </p:nvSpPr>
            <p:spPr>
              <a:xfrm>
                <a:off x="413027" y="1137965"/>
                <a:ext cx="227965" cy="22796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8" name="矩形 8"/>
              <p:cNvSpPr/>
              <p:nvPr userDrawn="1"/>
            </p:nvSpPr>
            <p:spPr>
              <a:xfrm>
                <a:off x="524152" y="1230675"/>
                <a:ext cx="183515" cy="183515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" name="矩形 6"/>
            <p:cNvSpPr/>
            <p:nvPr/>
          </p:nvSpPr>
          <p:spPr>
            <a:xfrm>
              <a:off x="818792" y="1021114"/>
              <a:ext cx="474938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fontAlgn="base" hangingPunct="0">
                <a:defRPr/>
              </a:pPr>
              <a:r>
                <a:rPr lang="en-US" altLang="zh-CN" sz="2000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3</a:t>
              </a:r>
              <a:r>
                <a:rPr lang="zh-CN" altLang="en-US" sz="2000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、中大校外住宿</a:t>
              </a:r>
              <a:r>
                <a:rPr lang="en-US" altLang="zh-TW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| </a:t>
              </a:r>
              <a:r>
                <a:rPr lang="zh-TW" altLang="en-US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基本情况</a:t>
              </a:r>
              <a:endPara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endParaRPr>
            </a:p>
          </p:txBody>
        </p:sp>
      </p:grpSp>
      <p:sp>
        <p:nvSpPr>
          <p:cNvPr id="9" name="文本框 2">
            <a:extLst>
              <a:ext uri="{FF2B5EF4-FFF2-40B4-BE49-F238E27FC236}">
                <a16:creationId xmlns:a16="http://schemas.microsoft.com/office/drawing/2014/main" id="{8AF2EB6D-0589-4ACF-B631-686D6824ADC6}"/>
              </a:ext>
            </a:extLst>
          </p:cNvPr>
          <p:cNvSpPr txBox="1"/>
          <p:nvPr/>
        </p:nvSpPr>
        <p:spPr>
          <a:xfrm>
            <a:off x="563879" y="1855318"/>
            <a:ext cx="11003528" cy="838263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rPr>
              <a:t>供需</a:t>
            </a:r>
            <a:r>
              <a:rPr lang="zh-TW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600" dirty="0">
                <a:latin typeface="+mn-ea"/>
              </a:rPr>
              <a:t>中大周边商业化学生宿舍供给严重不足。可核实床位仅约数百个量级，相对本科校外需求 </a:t>
            </a:r>
            <a:r>
              <a:rPr lang="en-US" altLang="zh-CN" sz="1600" dirty="0">
                <a:latin typeface="+mn-ea"/>
              </a:rPr>
              <a:t>9,000+ </a:t>
            </a:r>
            <a:r>
              <a:rPr lang="zh-CN" altLang="en-US" sz="1600" dirty="0">
                <a:latin typeface="+mn-ea"/>
              </a:rPr>
              <a:t>人次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学年，结构性缺口极大。酒店长租可补充但单价显着更高；位置在沙田和大围分布较密集。</a:t>
            </a:r>
          </a:p>
          <a:p>
            <a:pPr marL="285750" lvl="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TW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A64D1E5-A444-4B75-80BA-E580B9FB513C}"/>
              </a:ext>
            </a:extLst>
          </p:cNvPr>
          <p:cNvSpPr/>
          <p:nvPr/>
        </p:nvSpPr>
        <p:spPr>
          <a:xfrm>
            <a:off x="418395" y="2805748"/>
            <a:ext cx="35471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中大附近校外住宿</a:t>
            </a:r>
            <a:r>
              <a:rPr lang="zh-TW" altLang="en-US" sz="1400" b="1" dirty="0">
                <a:latin typeface="微软雅黑" panose="020B0503020204020204" charset="-122"/>
                <a:ea typeface="微软雅黑" panose="020B0503020204020204" charset="-122"/>
              </a:rPr>
              <a:t>位置分布</a:t>
            </a:r>
            <a:endParaRPr lang="zh-HK" altLang="en-US" sz="1400" b="1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C527929-8317-4977-851C-B495CEA982FF}"/>
              </a:ext>
            </a:extLst>
          </p:cNvPr>
          <p:cNvSpPr/>
          <p:nvPr/>
        </p:nvSpPr>
        <p:spPr>
          <a:xfrm>
            <a:off x="4489481" y="2595776"/>
            <a:ext cx="72841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中大校外住宿</a:t>
            </a:r>
            <a:r>
              <a:rPr lang="zh-TW" altLang="en-US" sz="1400" b="1" dirty="0">
                <a:latin typeface="微软雅黑" panose="020B0503020204020204" charset="-122"/>
                <a:ea typeface="微软雅黑" panose="020B0503020204020204" charset="-122"/>
              </a:rPr>
              <a:t>供应情况</a:t>
            </a:r>
            <a:endParaRPr lang="zh-HK" altLang="en-US" sz="1400" b="1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FB7E300-8470-0C0E-BE8D-B93E6124C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13" y="3152776"/>
            <a:ext cx="3838076" cy="3273420"/>
          </a:xfrm>
          <a:prstGeom prst="rect">
            <a:avLst/>
          </a:prstGeom>
        </p:spPr>
      </p:pic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4047ADED-4DA6-D289-37C1-683A79B15110}"/>
              </a:ext>
            </a:extLst>
          </p:cNvPr>
          <p:cNvGraphicFramePr>
            <a:graphicFrameLocks noGrp="1"/>
          </p:cNvGraphicFramePr>
          <p:nvPr/>
        </p:nvGraphicFramePr>
        <p:xfrm>
          <a:off x="4151532" y="2852918"/>
          <a:ext cx="7935964" cy="381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2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9806">
                  <a:extLst>
                    <a:ext uri="{9D8B030D-6E8A-4147-A177-3AD203B41FA5}">
                      <a16:colId xmlns:a16="http://schemas.microsoft.com/office/drawing/2014/main" val="1646407474"/>
                    </a:ext>
                  </a:extLst>
                </a:gridCol>
                <a:gridCol w="496389">
                  <a:extLst>
                    <a:ext uri="{9D8B030D-6E8A-4147-A177-3AD203B41FA5}">
                      <a16:colId xmlns:a16="http://schemas.microsoft.com/office/drawing/2014/main" val="2436725010"/>
                    </a:ext>
                  </a:extLst>
                </a:gridCol>
                <a:gridCol w="1837507">
                  <a:extLst>
                    <a:ext uri="{9D8B030D-6E8A-4147-A177-3AD203B41FA5}">
                      <a16:colId xmlns:a16="http://schemas.microsoft.com/office/drawing/2014/main" val="3000940488"/>
                    </a:ext>
                  </a:extLst>
                </a:gridCol>
              </a:tblGrid>
              <a:tr h="434041"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序号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宿位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单床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月租</a:t>
                      </a:r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（元</a:t>
                      </a:r>
                      <a:r>
                        <a:rPr lang="en-US" altLang="zh-CN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月）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运营方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投资方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投入运营</a:t>
                      </a:r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  <a:r>
                        <a:rPr lang="en-US" altLang="zh-CN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年）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位置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通勤時間</a:t>
                      </a:r>
                      <a:r>
                        <a:rPr lang="en-US" altLang="zh-CN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(min)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備註</a:t>
                      </a:r>
                      <a:endParaRPr sz="800" b="1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学生公寓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819536"/>
                  </a:ext>
                </a:extLst>
              </a:tr>
              <a:tr h="194570"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中大附近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大埔、大圍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lang="zh-CN" altLang="en-US"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選擇學校附近可能性較高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917631"/>
                  </a:ext>
                </a:extLst>
              </a:tr>
              <a:tr h="281436"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迎林</a:t>
                      </a:r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Parkwood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~360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5,335–5,95</a:t>
                      </a:r>
                      <a:r>
                        <a:rPr lang="en-US" altLang="zh-HK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恒基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大埔美新裡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</a:t>
                      </a:r>
                      <a:endParaRPr lang="zh-CN" altLang="en-US"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中大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年认可合作校外宿舍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459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HereIN</a:t>
                      </a:r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中大府邸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~16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8,300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HereIN</a:t>
                      </a:r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 </a:t>
                      </a:r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集好家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大埔公路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馬料水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私人公寓平台運營商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3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酷点</a:t>
                      </a:r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Kudian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4,800–7,000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酷點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大围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大埔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马鞍山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金禧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endParaRPr lang="zh-CN" altLang="en-US"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私人公寓平台運營商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20"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全港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2401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通勤時間普遍較長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32918"/>
                  </a:ext>
                </a:extLst>
              </a:tr>
              <a:tr h="314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日新舍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1650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8,645-17,300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宏安地產 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安祖高頓基金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2024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/2026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啟德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旺角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</a:t>
                      </a:r>
                      <a:endParaRPr lang="zh-CN" altLang="en-US"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83643"/>
                  </a:ext>
                </a:extLst>
              </a:tr>
              <a:tr h="2814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Weave Studios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649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8,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400 – 17,200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Weave Living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太子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奧運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090969"/>
                  </a:ext>
                </a:extLst>
              </a:tr>
              <a:tr h="25130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zh-HK" sz="800" dirty="0"/>
                        <a:t>安怡居 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3,800 – 12,000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altLang="zh-CN" sz="800" kern="12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Contented Living</a:t>
                      </a:r>
                      <a:endParaRPr lang="en-US" altLang="zh-HK" sz="800" kern="12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油麻地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旺角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佐敦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4255"/>
                  </a:ext>
                </a:extLst>
              </a:tr>
              <a:tr h="209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长租酒店</a:t>
                      </a:r>
                      <a:endParaRPr sz="8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沙田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僅提供學生長住優惠，非傳統學生公寓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87252"/>
                  </a:ext>
                </a:extLst>
              </a:tr>
              <a:tr h="31430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Aspire House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8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丽豪酒店</a:t>
                      </a:r>
                      <a:endParaRPr sz="8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~700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8,750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– 14,500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富豪酒店集团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沙田大湧橋路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lang="en-US" altLang="zh-TW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  <a:r>
                        <a:rPr lang="zh-TW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月推學生宿舍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，已有院校預留</a:t>
                      </a:r>
                      <a:r>
                        <a:rPr lang="en-US" altLang="zh-CN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350</a:t>
                      </a:r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間房，個人申請未公開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43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ALVA </a:t>
                      </a:r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帝逸酒店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~900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8550 – 13,000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皇家</a:t>
                      </a:r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 </a:t>
                      </a:r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新鸿基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2024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沙田源康街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zh-HK" sz="800" dirty="0"/>
                        <a:t>正計劃轉型為以學生租住為主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43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Royal Park </a:t>
                      </a:r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帝都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~600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11,880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– 16,200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 err="1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帝都酒店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1989 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新界大埔沙田市中心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仍以酒店為核心</a:t>
                      </a:r>
                      <a:endParaRPr sz="800" dirty="0">
                        <a:solidFill>
                          <a:srgbClr val="333333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4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F758-F33A-BE11-9E80-DFC26276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D0CE0FEE-49E8-BBE0-965D-308A50E4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22" y="3182176"/>
            <a:ext cx="4812089" cy="347894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405D0D0-3D7F-5E69-8BC8-B600D0BC08B7}"/>
              </a:ext>
            </a:extLst>
          </p:cNvPr>
          <p:cNvSpPr/>
          <p:nvPr/>
        </p:nvSpPr>
        <p:spPr>
          <a:xfrm>
            <a:off x="0" y="1003439"/>
            <a:ext cx="12192000" cy="36195"/>
          </a:xfrm>
          <a:prstGeom prst="rect">
            <a:avLst/>
          </a:prstGeom>
          <a:gradFill flip="none" rotWithShape="1">
            <a:gsLst>
              <a:gs pos="25000">
                <a:srgbClr val="C00000"/>
              </a:gs>
              <a:gs pos="65000">
                <a:schemeClr val="accent1">
                  <a:lumMod val="20000"/>
                  <a:lumOff val="8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12" tIns="51956" rIns="103912" bIns="51956" rtlCol="0" anchor="ctr"/>
          <a:lstStyle/>
          <a:p>
            <a:endParaRPr lang="en-US" altLang="zh-CN" sz="1865" b="1" dirty="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E5B3D4F-F2A7-94BF-6692-85635003602F}"/>
              </a:ext>
            </a:extLst>
          </p:cNvPr>
          <p:cNvSpPr txBox="1"/>
          <p:nvPr/>
        </p:nvSpPr>
        <p:spPr>
          <a:xfrm>
            <a:off x="3759201" y="349371"/>
            <a:ext cx="7374238" cy="551090"/>
          </a:xfrm>
          <a:prstGeom prst="rect">
            <a:avLst/>
          </a:prstGeom>
        </p:spPr>
        <p:txBody>
          <a:bodyPr vert="horz" wrap="square" lIns="0" tIns="90000" rIns="0" bIns="90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五、市场分析 </a:t>
            </a:r>
            <a:endParaRPr lang="zh-CN" altLang="zh-TW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" name="组合 4">
            <a:extLst>
              <a:ext uri="{FF2B5EF4-FFF2-40B4-BE49-F238E27FC236}">
                <a16:creationId xmlns:a16="http://schemas.microsoft.com/office/drawing/2014/main" id="{8D90CC76-9374-C88F-8D6F-061D95B9B85F}"/>
              </a:ext>
            </a:extLst>
          </p:cNvPr>
          <p:cNvGrpSpPr/>
          <p:nvPr/>
        </p:nvGrpSpPr>
        <p:grpSpPr>
          <a:xfrm>
            <a:off x="658813" y="1360080"/>
            <a:ext cx="8729028" cy="400110"/>
            <a:chOff x="413027" y="1021114"/>
            <a:chExt cx="5894387" cy="400110"/>
          </a:xfrm>
        </p:grpSpPr>
        <p:grpSp>
          <p:nvGrpSpPr>
            <p:cNvPr id="5" name="组合 5">
              <a:extLst>
                <a:ext uri="{FF2B5EF4-FFF2-40B4-BE49-F238E27FC236}">
                  <a16:creationId xmlns:a16="http://schemas.microsoft.com/office/drawing/2014/main" id="{1784CC90-3EA4-7478-D49F-A5CBB4A2B1A8}"/>
                </a:ext>
              </a:extLst>
            </p:cNvPr>
            <p:cNvGrpSpPr/>
            <p:nvPr/>
          </p:nvGrpSpPr>
          <p:grpSpPr>
            <a:xfrm>
              <a:off x="413027" y="1113834"/>
              <a:ext cx="294640" cy="276225"/>
              <a:chOff x="413027" y="1137965"/>
              <a:chExt cx="294640" cy="276225"/>
            </a:xfrm>
          </p:grpSpPr>
          <p:sp>
            <p:nvSpPr>
              <p:cNvPr id="7" name="矩形 7">
                <a:extLst>
                  <a:ext uri="{FF2B5EF4-FFF2-40B4-BE49-F238E27FC236}">
                    <a16:creationId xmlns:a16="http://schemas.microsoft.com/office/drawing/2014/main" id="{E60E7D99-2750-61AD-D487-831C5198DAF8}"/>
                  </a:ext>
                </a:extLst>
              </p:cNvPr>
              <p:cNvSpPr/>
              <p:nvPr userDrawn="1"/>
            </p:nvSpPr>
            <p:spPr>
              <a:xfrm>
                <a:off x="413027" y="1137965"/>
                <a:ext cx="227965" cy="22796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8" name="矩形 8">
                <a:extLst>
                  <a:ext uri="{FF2B5EF4-FFF2-40B4-BE49-F238E27FC236}">
                    <a16:creationId xmlns:a16="http://schemas.microsoft.com/office/drawing/2014/main" id="{78F416FA-766D-90DC-8EF3-74FB3F151E88}"/>
                  </a:ext>
                </a:extLst>
              </p:cNvPr>
              <p:cNvSpPr/>
              <p:nvPr userDrawn="1"/>
            </p:nvSpPr>
            <p:spPr>
              <a:xfrm>
                <a:off x="524152" y="1230675"/>
                <a:ext cx="183515" cy="183515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" name="矩形 6">
              <a:extLst>
                <a:ext uri="{FF2B5EF4-FFF2-40B4-BE49-F238E27FC236}">
                  <a16:creationId xmlns:a16="http://schemas.microsoft.com/office/drawing/2014/main" id="{172EA49B-63D1-5D14-5A8F-6BDEEBA477AB}"/>
                </a:ext>
              </a:extLst>
            </p:cNvPr>
            <p:cNvSpPr/>
            <p:nvPr/>
          </p:nvSpPr>
          <p:spPr>
            <a:xfrm>
              <a:off x="818792" y="1021114"/>
              <a:ext cx="548862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 hangingPunct="0">
                <a:defRPr/>
              </a:pPr>
              <a:r>
                <a:rPr lang="en-US" altLang="zh-CN" sz="2000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3</a:t>
              </a:r>
              <a:r>
                <a:rPr lang="zh-CN" altLang="en-US" sz="2000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、中大校外住宿</a:t>
              </a:r>
              <a:r>
                <a:rPr lang="en-US" altLang="zh-TW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| </a:t>
              </a:r>
              <a:r>
                <a:rPr lang="zh-CN" altLang="en-US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参考项目</a:t>
              </a:r>
              <a:r>
                <a:rPr lang="zh-TW" altLang="en-US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（</a:t>
              </a:r>
              <a:r>
                <a:rPr lang="zh-CN" altLang="en-US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迎林 </a:t>
              </a:r>
              <a:r>
                <a:rPr lang="fr-FR" altLang="zh-CN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Parkwood</a:t>
              </a:r>
              <a:r>
                <a:rPr lang="zh-TW" altLang="en-US" sz="20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+mn-ea"/>
                  <a:sym typeface="+mn-lt"/>
                </a:rPr>
                <a:t>）</a:t>
              </a:r>
              <a:endPara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7" name="文本框 39">
            <a:extLst>
              <a:ext uri="{FF2B5EF4-FFF2-40B4-BE49-F238E27FC236}">
                <a16:creationId xmlns:a16="http://schemas.microsoft.com/office/drawing/2014/main" id="{44BCCF97-EDDC-504D-200A-9934874CC038}"/>
              </a:ext>
            </a:extLst>
          </p:cNvPr>
          <p:cNvSpPr txBox="1"/>
          <p:nvPr/>
        </p:nvSpPr>
        <p:spPr>
          <a:xfrm>
            <a:off x="658813" y="1811823"/>
            <a:ext cx="10909300" cy="1290928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STZhongsong" panose="02010600040101010101" pitchFamily="2" charset="-122"/>
              </a:rPr>
              <a:t>项目位于</a:t>
            </a:r>
            <a:r>
              <a:rPr lang="zh-TW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STZhongsong" panose="02010600040101010101" pitchFamily="2" charset="-122"/>
              </a:rPr>
              <a:t>大埔美新里</a:t>
            </a:r>
            <a:r>
              <a:rPr lang="en-US" altLang="zh-TW" sz="14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STZhongsong" panose="02010600040101010101" pitchFamily="2" charset="-122"/>
              </a:rPr>
              <a:t>3</a:t>
            </a:r>
            <a:r>
              <a:rPr lang="zh-TW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STZhongsong" panose="02010600040101010101" pitchFamily="2" charset="-122"/>
              </a:rPr>
              <a:t>号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巴士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35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分钟可到中文大学，巴士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分钟可到教育大学，共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122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伙改床位出租，户型有双人房、三人房及四人房。</a:t>
            </a:r>
            <a:endParaRPr lang="en-US" altLang="zh-CN" sz="1400" kern="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项目于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年开始运营，公开信息显示床位租金在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5,335–5,950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月（要求最短租总一期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11.5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个月，摊算到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个月实际租金约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6,817-7,603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元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月）。项目为中大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年认可合作校外宿舍；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4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月合作收尾。入住率未公开，</a:t>
            </a:r>
            <a:r>
              <a:rPr lang="zh-CN" altLang="en-US" sz="1400" dirty="0">
                <a:latin typeface="Microsoft YaHei"/>
              </a:rPr>
              <a:t>首周申请 </a:t>
            </a:r>
            <a:r>
              <a:rPr lang="en-US" altLang="zh-CN" sz="1400" dirty="0">
                <a:latin typeface="Microsoft YaHei"/>
              </a:rPr>
              <a:t>250+ </a:t>
            </a:r>
            <a:r>
              <a:rPr lang="zh-CN" altLang="en-US" sz="1400" dirty="0">
                <a:latin typeface="Microsoft YaHei"/>
              </a:rPr>
              <a:t>人（约可租床位 </a:t>
            </a:r>
            <a:r>
              <a:rPr lang="en-US" altLang="zh-CN" sz="1400" dirty="0">
                <a:latin typeface="Microsoft YaHei"/>
              </a:rPr>
              <a:t>70%</a:t>
            </a:r>
            <a:r>
              <a:rPr lang="zh-CN" altLang="en-US" sz="1400" dirty="0">
                <a:latin typeface="Microsoft YaHei"/>
              </a:rPr>
              <a:t>）。</a:t>
            </a:r>
            <a:endParaRPr lang="zh-CN" altLang="en-US" sz="1400" kern="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3B4D311-5123-D6C7-B5A9-741E0E62B6B8}"/>
              </a:ext>
            </a:extLst>
          </p:cNvPr>
          <p:cNvGrpSpPr/>
          <p:nvPr/>
        </p:nvGrpSpPr>
        <p:grpSpPr>
          <a:xfrm>
            <a:off x="-46597" y="4277530"/>
            <a:ext cx="4487539" cy="2231099"/>
            <a:chOff x="533884" y="4497244"/>
            <a:chExt cx="4487539" cy="2231099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268C988D-586D-A000-7F97-B8B20078BDC0}"/>
                </a:ext>
              </a:extLst>
            </p:cNvPr>
            <p:cNvGrpSpPr/>
            <p:nvPr/>
          </p:nvGrpSpPr>
          <p:grpSpPr>
            <a:xfrm>
              <a:off x="2506410" y="4497244"/>
              <a:ext cx="2515013" cy="2231099"/>
              <a:chOff x="2487621" y="4497244"/>
              <a:chExt cx="2515013" cy="2231099"/>
            </a:xfrm>
          </p:grpSpPr>
          <p:cxnSp>
            <p:nvCxnSpPr>
              <p:cNvPr id="15" name="直接箭头连接符 41">
                <a:extLst>
                  <a:ext uri="{FF2B5EF4-FFF2-40B4-BE49-F238E27FC236}">
                    <a16:creationId xmlns:a16="http://schemas.microsoft.com/office/drawing/2014/main" id="{D6BB3353-A5E6-4CDA-C9A8-9293F3B13CCF}"/>
                  </a:ext>
                </a:extLst>
              </p:cNvPr>
              <p:cNvCxnSpPr>
                <a:cxnSpLocks/>
                <a:stCxn id="16" idx="3"/>
              </p:cNvCxnSpPr>
              <p:nvPr/>
            </p:nvCxnSpPr>
            <p:spPr>
              <a:xfrm>
                <a:off x="2604807" y="4642094"/>
                <a:ext cx="1867428" cy="1836592"/>
              </a:xfrm>
              <a:prstGeom prst="straightConnector1">
                <a:avLst/>
              </a:prstGeom>
              <a:ln w="28575" cap="flat" cmpd="sng" algn="ctr">
                <a:solidFill>
                  <a:srgbClr val="FF0000"/>
                </a:solidFill>
                <a:prstDash val="dash"/>
                <a:miter lim="800000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" name="星形: 五角 15">
                <a:extLst>
                  <a:ext uri="{FF2B5EF4-FFF2-40B4-BE49-F238E27FC236}">
                    <a16:creationId xmlns:a16="http://schemas.microsoft.com/office/drawing/2014/main" id="{8EA4F994-E5D5-C8E5-220D-15BA6E8FD076}"/>
                  </a:ext>
                </a:extLst>
              </p:cNvPr>
              <p:cNvSpPr/>
              <p:nvPr/>
            </p:nvSpPr>
            <p:spPr>
              <a:xfrm>
                <a:off x="2487621" y="4497244"/>
                <a:ext cx="144850" cy="144850"/>
              </a:xfrm>
              <a:prstGeom prst="star5">
                <a:avLst/>
              </a:prstGeom>
              <a:solidFill>
                <a:srgbClr val="FFFF00"/>
              </a:solidFill>
              <a:ln w="127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5CBB6DAD-A54C-C972-9D87-CB2975D340A2}"/>
                  </a:ext>
                </a:extLst>
              </p:cNvPr>
              <p:cNvSpPr/>
              <p:nvPr/>
            </p:nvSpPr>
            <p:spPr>
              <a:xfrm>
                <a:off x="4477648" y="6471986"/>
                <a:ext cx="524986" cy="256357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:r>
                  <a:rPr lang="zh-TW" altLang="en-US" sz="800" b="1" dirty="0">
                    <a:effectLst>
                      <a:glow rad="63500">
                        <a:schemeClr val="bg1"/>
                      </a:glo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香港</a:t>
                </a:r>
                <a:r>
                  <a:rPr lang="zh-CN" altLang="en-US" sz="800" b="1" dirty="0">
                    <a:effectLst>
                      <a:glow rad="63500">
                        <a:schemeClr val="bg1"/>
                      </a:glo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中文</a:t>
                </a:r>
                <a:r>
                  <a:rPr lang="zh-TW" altLang="en-US" sz="800" b="1" dirty="0">
                    <a:effectLst>
                      <a:glow rad="63500">
                        <a:schemeClr val="bg1"/>
                      </a:glo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大学</a:t>
                </a:r>
                <a:endParaRPr lang="en-US" altLang="zh-TW" sz="800" b="1" dirty="0">
                  <a:effectLst>
                    <a:glow rad="63500">
                      <a:schemeClr val="bg1"/>
                    </a:glo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54F14EF-6527-64B1-4124-EA76FB540A0E}"/>
                  </a:ext>
                </a:extLst>
              </p:cNvPr>
              <p:cNvSpPr/>
              <p:nvPr/>
            </p:nvSpPr>
            <p:spPr>
              <a:xfrm rot="2752601">
                <a:off x="3303481" y="5264692"/>
                <a:ext cx="560135" cy="202125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zh-CN" altLang="en-US" sz="800" dirty="0">
                    <a:solidFill>
                      <a:srgbClr val="FF0000"/>
                    </a:solidFill>
                    <a:effectLst>
                      <a:glow rad="50800">
                        <a:schemeClr val="bg1"/>
                      </a:glo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巴士</a:t>
                </a:r>
                <a:r>
                  <a:rPr lang="en-US" altLang="zh-CN" sz="800" dirty="0">
                    <a:solidFill>
                      <a:srgbClr val="FF0000"/>
                    </a:solidFill>
                    <a:effectLst>
                      <a:glow rad="50800">
                        <a:schemeClr val="bg1"/>
                      </a:glo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35</a:t>
                </a:r>
                <a:r>
                  <a:rPr lang="en-US" altLang="zh-TW" sz="800" dirty="0">
                    <a:solidFill>
                      <a:srgbClr val="FF0000"/>
                    </a:solidFill>
                    <a:effectLst>
                      <a:glow rad="50800">
                        <a:schemeClr val="bg1"/>
                      </a:glo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min </a:t>
                </a:r>
                <a:endParaRPr lang="zh-HK" altLang="en-US" sz="800" dirty="0">
                  <a:solidFill>
                    <a:srgbClr val="FF0000"/>
                  </a:solidFill>
                  <a:effectLst>
                    <a:glow rad="50800"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A684449-B98A-C6AC-0FDC-5472680F1A80}"/>
                </a:ext>
              </a:extLst>
            </p:cNvPr>
            <p:cNvSpPr/>
            <p:nvPr/>
          </p:nvSpPr>
          <p:spPr>
            <a:xfrm>
              <a:off x="533884" y="4497244"/>
              <a:ext cx="2476228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zh-CN" altLang="en-US" sz="1100" b="1" dirty="0">
                  <a:solidFill>
                    <a:srgbClr val="FF0000"/>
                  </a:solidFill>
                  <a:effectLst>
                    <a:glow rad="63500">
                      <a:schemeClr val="bg1"/>
                    </a:glow>
                  </a:effectLst>
                </a:rPr>
                <a:t>迎林</a:t>
              </a:r>
              <a:endParaRPr lang="zh-HK" altLang="en-US" sz="1100" b="1" dirty="0">
                <a:solidFill>
                  <a:srgbClr val="FF0000"/>
                </a:solidFill>
                <a:effectLst>
                  <a:glow rad="63500">
                    <a:schemeClr val="bg1"/>
                  </a:glow>
                </a:effectLst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B7512058-2BA3-CD8D-E382-35799ED3231E}"/>
              </a:ext>
            </a:extLst>
          </p:cNvPr>
          <p:cNvSpPr/>
          <p:nvPr/>
        </p:nvSpPr>
        <p:spPr>
          <a:xfrm>
            <a:off x="3234215" y="3297512"/>
            <a:ext cx="524986" cy="25635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TW" altLang="en-US" sz="800" b="1" dirty="0">
                <a:effectLst>
                  <a:glow rad="63500">
                    <a:schemeClr val="bg1"/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香港</a:t>
            </a:r>
            <a:r>
              <a:rPr lang="zh-CN" altLang="en-US" sz="800" b="1" dirty="0">
                <a:effectLst>
                  <a:glow rad="63500">
                    <a:schemeClr val="bg1"/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教育</a:t>
            </a:r>
            <a:r>
              <a:rPr lang="zh-TW" altLang="en-US" sz="800" b="1" dirty="0">
                <a:effectLst>
                  <a:glow rad="63500">
                    <a:schemeClr val="bg1"/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大学</a:t>
            </a:r>
            <a:endParaRPr lang="en-US" altLang="zh-TW" sz="800" b="1" dirty="0">
              <a:effectLst>
                <a:glow rad="63500">
                  <a:schemeClr val="bg1"/>
                </a:glo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箭头连接符 41">
            <a:extLst>
              <a:ext uri="{FF2B5EF4-FFF2-40B4-BE49-F238E27FC236}">
                <a16:creationId xmlns:a16="http://schemas.microsoft.com/office/drawing/2014/main" id="{9702B7B1-D5FA-2C4B-4222-4CBB06E67A29}"/>
              </a:ext>
            </a:extLst>
          </p:cNvPr>
          <p:cNvCxnSpPr>
            <a:cxnSpLocks/>
          </p:cNvCxnSpPr>
          <p:nvPr/>
        </p:nvCxnSpPr>
        <p:spPr>
          <a:xfrm flipV="1">
            <a:off x="2070779" y="3495776"/>
            <a:ext cx="1327796" cy="781754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7CF7B8B5-C200-FDF1-FEA7-1887611D4AB5}"/>
              </a:ext>
            </a:extLst>
          </p:cNvPr>
          <p:cNvSpPr/>
          <p:nvPr/>
        </p:nvSpPr>
        <p:spPr>
          <a:xfrm rot="19726531">
            <a:off x="2182369" y="3785590"/>
            <a:ext cx="560135" cy="20212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effectLst>
                  <a:glow rad="50800">
                    <a:schemeClr val="bg1"/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巴士</a:t>
            </a:r>
            <a:r>
              <a:rPr lang="en-US" altLang="zh-CN" sz="800" dirty="0">
                <a:solidFill>
                  <a:srgbClr val="FF0000"/>
                </a:solidFill>
                <a:effectLst>
                  <a:glow rad="50800">
                    <a:schemeClr val="bg1"/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lang="en-US" altLang="zh-TW" sz="800" dirty="0">
                <a:solidFill>
                  <a:srgbClr val="FF0000"/>
                </a:solidFill>
                <a:effectLst>
                  <a:glow rad="50800">
                    <a:schemeClr val="bg1"/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min </a:t>
            </a:r>
            <a:endParaRPr lang="zh-HK" altLang="en-US" sz="800" dirty="0">
              <a:solidFill>
                <a:srgbClr val="FF0000"/>
              </a:solidFill>
              <a:effectLst>
                <a:glow rad="50800">
                  <a:schemeClr val="bg1"/>
                </a:glow>
              </a:effectLst>
            </a:endParaRPr>
          </a:p>
        </p:txBody>
      </p:sp>
      <p:graphicFrame>
        <p:nvGraphicFramePr>
          <p:cNvPr id="39" name="Table 9">
            <a:extLst>
              <a:ext uri="{FF2B5EF4-FFF2-40B4-BE49-F238E27FC236}">
                <a16:creationId xmlns:a16="http://schemas.microsoft.com/office/drawing/2014/main" id="{EB16FC05-FAE8-BCE5-691D-5ACBBAB08DF4}"/>
              </a:ext>
            </a:extLst>
          </p:cNvPr>
          <p:cNvGraphicFramePr>
            <a:graphicFrameLocks noGrp="1"/>
          </p:cNvGraphicFramePr>
          <p:nvPr/>
        </p:nvGraphicFramePr>
        <p:xfrm>
          <a:off x="5470935" y="3588845"/>
          <a:ext cx="6514890" cy="2402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395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房型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月租金</a:t>
                      </a:r>
                      <a:br>
                        <a:rPr sz="1400" dirty="0"/>
                      </a:br>
                      <a:r>
                        <a:rPr sz="1400" dirty="0"/>
                        <a:t>（元/月）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折算到9个月</a:t>
                      </a:r>
                      <a:br>
                        <a:rPr sz="1400" dirty="0"/>
                      </a:br>
                      <a:r>
                        <a:rPr sz="1400" dirty="0" err="1"/>
                        <a:t>月租（元</a:t>
                      </a:r>
                      <a:r>
                        <a:rPr sz="1400" dirty="0"/>
                        <a:t>/月）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使用面积</a:t>
                      </a:r>
                      <a:br>
                        <a:rPr sz="1400" dirty="0"/>
                      </a:br>
                      <a:r>
                        <a:rPr sz="1400" dirty="0"/>
                        <a:t>（</a:t>
                      </a:r>
                      <a:r>
                        <a:rPr sz="1400" dirty="0" err="1"/>
                        <a:t>平方呎</a:t>
                      </a:r>
                      <a:r>
                        <a:rPr sz="1400" dirty="0"/>
                        <a:t>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使用面积呎价</a:t>
                      </a:r>
                      <a:br>
                        <a:rPr sz="1400" dirty="0"/>
                      </a:br>
                      <a:r>
                        <a:rPr sz="1400" dirty="0"/>
                        <a:t>（元/呎）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8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双人房</a:t>
                      </a: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（床位）</a:t>
                      </a:r>
                      <a:endParaRPr sz="14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5,950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7,603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140（估）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42（估）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8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三人房</a:t>
                      </a: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（床位）</a:t>
                      </a:r>
                      <a:endParaRPr sz="14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5,950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7,603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110（估）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54（估）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274163"/>
                  </a:ext>
                </a:extLst>
              </a:tr>
              <a:tr h="48608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四人房</a:t>
                      </a: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（床位）</a:t>
                      </a:r>
                      <a:endParaRPr sz="14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5,335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6,817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100（估）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Microsoft YaHei"/>
                        </a:rPr>
                        <a:t>53（估）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56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4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4630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256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 dirty="0" err="1">
                <a:solidFill>
                  <a:srgbClr val="C00000"/>
                </a:solidFill>
                <a:latin typeface="Microsoft YaHei"/>
              </a:rPr>
              <a:t>二、学生住宿市场</a:t>
            </a:r>
            <a:endParaRPr sz="2400" b="1" dirty="0">
              <a:solidFill>
                <a:srgbClr val="C0000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6270" y="1060704"/>
            <a:ext cx="11155680" cy="417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dirty="0">
                <a:solidFill>
                  <a:srgbClr val="C00000"/>
                </a:solidFill>
                <a:latin typeface="Microsoft YaHei"/>
              </a:rPr>
              <a:t>4、小结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444752"/>
          <a:ext cx="115488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2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判断</a:t>
                      </a:r>
                      <a:endParaRPr sz="10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本科需求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校内覆盖约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52%，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校外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9,000+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人次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学年粗算缺口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研究生需求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PGH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覆盖约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17%；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修课式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兼读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自资无校内宿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深圳替代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未获宿港漂北上；罗湖公寓约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40%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租客为在港读研内地生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校内供给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9,500+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书院宿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+ I-House/PGH；蔡继有（250）、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E计划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（+300）在建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校外公寓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近中大商业化宿舍床位仅数百量级，缺口极大；酒店长租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8,550–11,880/床</a:t>
                      </a: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对黄宜坳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大埔走廊具填补缺口潜力；需实测通勤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 +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对标迎林房型</a:t>
                      </a:r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/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呎租</a:t>
                      </a:r>
                      <a:endParaRPr sz="10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A0584A67-0E2F-F5F3-4EA3-85CA85675FD7}"/>
              </a:ext>
            </a:extLst>
          </p:cNvPr>
          <p:cNvSpPr/>
          <p:nvPr/>
        </p:nvSpPr>
        <p:spPr>
          <a:xfrm>
            <a:off x="0" y="1003439"/>
            <a:ext cx="12192000" cy="36195"/>
          </a:xfrm>
          <a:prstGeom prst="rect">
            <a:avLst/>
          </a:prstGeom>
          <a:gradFill flip="none" rotWithShape="1">
            <a:gsLst>
              <a:gs pos="25000">
                <a:srgbClr val="C00000"/>
              </a:gs>
              <a:gs pos="65000">
                <a:schemeClr val="accent1">
                  <a:lumMod val="20000"/>
                  <a:lumOff val="8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12" tIns="51956" rIns="103912" bIns="51956" rtlCol="0" anchor="ctr"/>
          <a:lstStyle/>
          <a:p>
            <a:endParaRPr lang="en-US" altLang="zh-CN" sz="1865" b="1" dirty="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1003</Words>
  <Application>Microsoft Office PowerPoint</Application>
  <PresentationFormat>寬螢幕</PresentationFormat>
  <Paragraphs>288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仿宋</vt:lpstr>
      <vt:lpstr>Microsoft YaHei</vt:lpstr>
      <vt:lpstr>Microsoft YaHei</vt:lpstr>
      <vt:lpstr>华文中宋</vt:lpstr>
      <vt:lpstr>Arial</vt:lpstr>
      <vt:lpstr>Calibri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XIE, Yujie</cp:lastModifiedBy>
  <cp:revision>3</cp:revision>
  <dcterms:created xsi:type="dcterms:W3CDTF">2013-01-27T09:14:16Z</dcterms:created>
  <dcterms:modified xsi:type="dcterms:W3CDTF">2026-06-15T04:38:57Z</dcterms:modified>
  <cp:category/>
</cp:coreProperties>
</file>