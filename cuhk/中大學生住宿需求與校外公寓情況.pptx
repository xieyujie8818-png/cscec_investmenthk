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4630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400" b="1">
                <a:solidFill>
                  <a:srgbClr val="C00000"/>
                </a:solidFill>
                <a:latin typeface="Microsoft YaHei"/>
              </a:rPr>
              <a:t>三、學生住宿市場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8368"/>
            <a:ext cx="1152144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749808"/>
            <a:ext cx="128016" cy="2377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722375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C00000"/>
                </a:solidFill>
                <a:latin typeface="Microsoft YaHei"/>
              </a:rPr>
              <a:t>1、中大住宿需求缺口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234440"/>
          <a:ext cx="54864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指標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數字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備註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本科生（2024）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18,438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非本地 2,696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研究生（2024）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6,349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非本地 1,699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校內本科宿位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~9,500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約 50%+ 覆蓋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研宿 PGH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~1,100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修課式/兼讀/自資無校內宿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校外潛在需求（粗算）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9,000+ 本科人次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未獲宿 + 高年級搬出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剛性校外池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非本地生 + 修課式研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結構性需求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989320" y="1234440"/>
            <a:ext cx="5879592" cy="2331720"/>
          </a:xfrm>
          <a:prstGeom prst="rect">
            <a:avLst/>
          </a:prstGeom>
          <a:solidFill>
            <a:srgbClr val="F8F8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9048" y="1307592"/>
            <a:ext cx="5660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33333"/>
                </a:solidFill>
                <a:latin typeface="Microsoft YaHei"/>
              </a:rPr>
              <a:t>校內覆蓋率與需求缺口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173736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本科生校內獲宿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1773936"/>
            <a:ext cx="2770632" cy="20116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052560" y="1773936"/>
            <a:ext cx="1427541" cy="201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85832" y="173736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>
                <a:solidFill>
                  <a:srgbClr val="C00000"/>
                </a:solidFill>
                <a:latin typeface="Microsoft YaHei"/>
              </a:rPr>
              <a:t>52%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975104"/>
            <a:ext cx="27706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66666"/>
                </a:solidFill>
                <a:latin typeface="Microsoft YaHei"/>
              </a:rPr>
              <a:t>9,500/18,438  ·  52%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2395728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研究生校內研宿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2432304"/>
            <a:ext cx="2770632" cy="20116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52560" y="2432304"/>
            <a:ext cx="480027" cy="201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85832" y="23957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>
                <a:solidFill>
                  <a:srgbClr val="C00000"/>
                </a:solidFill>
                <a:latin typeface="Microsoft YaHei"/>
              </a:rPr>
              <a:t>17%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633472"/>
            <a:ext cx="27706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66666"/>
                </a:solidFill>
                <a:latin typeface="Microsoft YaHei"/>
              </a:rPr>
              <a:t>1,100/6,349  ·  17%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3054096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本科校外需求（粗算）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3090672"/>
            <a:ext cx="2770632" cy="20116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52560" y="3090672"/>
            <a:ext cx="1352407" cy="201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85832" y="305409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>
                <a:solidFill>
                  <a:srgbClr val="C00000"/>
                </a:solidFill>
                <a:latin typeface="Microsoft YaHei"/>
              </a:rPr>
              <a:t>粗算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291839"/>
            <a:ext cx="27706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66666"/>
                </a:solidFill>
                <a:latin typeface="Microsoft YaHei"/>
              </a:rPr>
              <a:t>9,000+ 人次  ·  粗算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3703320"/>
            <a:ext cx="11548872" cy="6220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dirty="0">
                <a:solidFill>
                  <a:srgbClr val="C00000"/>
                </a:solidFill>
                <a:latin typeface="Microsoft YaHei"/>
              </a:rPr>
              <a:t>1. </a:t>
            </a:r>
            <a:r>
              <a:rPr sz="1300" b="0" dirty="0" err="1">
                <a:solidFill>
                  <a:srgbClr val="C00000"/>
                </a:solidFill>
                <a:latin typeface="Microsoft YaHei"/>
              </a:rPr>
              <a:t>校內宿位長期不足一半本科生，校外需求剛性且穩定</a:t>
            </a:r>
            <a:r>
              <a:rPr sz="1300" b="0" dirty="0">
                <a:solidFill>
                  <a:srgbClr val="C00000"/>
                </a:solidFill>
                <a:latin typeface="Microsoft YaHei"/>
              </a:rPr>
              <a:t>。</a:t>
            </a:r>
          </a:p>
          <a:p>
            <a:pPr algn="l">
              <a:lnSpc>
                <a:spcPct val="140000"/>
              </a:lnSpc>
            </a:pPr>
            <a:r>
              <a:rPr sz="1300" b="0" dirty="0">
                <a:solidFill>
                  <a:srgbClr val="C00000"/>
                </a:solidFill>
                <a:latin typeface="Microsoft YaHei"/>
              </a:rPr>
              <a:t>2. 2025/26 </a:t>
            </a:r>
            <a:r>
              <a:rPr sz="1300" b="0" dirty="0" err="1">
                <a:solidFill>
                  <a:srgbClr val="C00000"/>
                </a:solidFill>
                <a:latin typeface="Microsoft YaHei"/>
              </a:rPr>
              <a:t>非本地本科錄取約</a:t>
            </a:r>
            <a:r>
              <a:rPr sz="1300" b="0" dirty="0">
                <a:solidFill>
                  <a:srgbClr val="C00000"/>
                </a:solidFill>
                <a:latin typeface="Microsoft YaHei"/>
              </a:rPr>
              <a:t> 1,000 </a:t>
            </a:r>
            <a:r>
              <a:rPr sz="1300" b="0" dirty="0" err="1">
                <a:solidFill>
                  <a:srgbClr val="C00000"/>
                </a:solidFill>
                <a:latin typeface="Microsoft YaHei"/>
              </a:rPr>
              <a:t>人（按年</a:t>
            </a:r>
            <a:r>
              <a:rPr sz="1300" b="0" dirty="0">
                <a:solidFill>
                  <a:srgbClr val="C00000"/>
                </a:solidFill>
                <a:latin typeface="Microsoft YaHei"/>
              </a:rPr>
              <a:t> +30%），</a:t>
            </a:r>
            <a:r>
              <a:rPr sz="1300" b="0" dirty="0" err="1">
                <a:solidFill>
                  <a:srgbClr val="C00000"/>
                </a:solidFill>
                <a:latin typeface="Microsoft YaHei"/>
              </a:rPr>
              <a:t>進一步放大校外壓力</a:t>
            </a:r>
            <a:endParaRPr sz="1300" b="0" dirty="0">
              <a:solidFill>
                <a:srgbClr val="C00000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4630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400" b="1">
                <a:solidFill>
                  <a:srgbClr val="C00000"/>
                </a:solidFill>
                <a:latin typeface="Microsoft YaHei"/>
              </a:rPr>
              <a:t>三、學生住宿市場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8368"/>
            <a:ext cx="1152144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749808"/>
            <a:ext cx="128016" cy="2377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722375"/>
            <a:ext cx="11155680" cy="4173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dirty="0">
                <a:solidFill>
                  <a:srgbClr val="C00000"/>
                </a:solidFill>
                <a:latin typeface="Microsoft YaHei"/>
              </a:rPr>
              <a:t>1</a:t>
            </a:r>
            <a:r>
              <a:rPr lang="zh-CN" altLang="en-US" sz="1800" b="1" dirty="0">
                <a:solidFill>
                  <a:srgbClr val="C00000"/>
                </a:solidFill>
                <a:latin typeface="Microsoft YaHei"/>
              </a:rPr>
              <a:t>、</a:t>
            </a:r>
            <a:r>
              <a:rPr sz="1800" b="1" dirty="0" err="1">
                <a:solidFill>
                  <a:srgbClr val="C00000"/>
                </a:solidFill>
                <a:latin typeface="Microsoft YaHei"/>
              </a:rPr>
              <a:t>校內學生宿舍供給</a:t>
            </a:r>
            <a:endParaRPr sz="1800" b="1" dirty="0">
              <a:solidFill>
                <a:srgbClr val="C00000"/>
              </a:solidFill>
              <a:latin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115488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 err="1">
                <a:solidFill>
                  <a:srgbClr val="666666"/>
                </a:solidFill>
                <a:latin typeface="Microsoft YaHei"/>
              </a:rPr>
              <a:t>九所書院宿位合計約</a:t>
            </a:r>
            <a:r>
              <a:rPr sz="1000" b="0" dirty="0">
                <a:solidFill>
                  <a:srgbClr val="666666"/>
                </a:solidFill>
                <a:latin typeface="Microsoft YaHei"/>
              </a:rPr>
              <a:t> 9,113；連同 I-House </a:t>
            </a:r>
            <a:r>
              <a:rPr sz="1000" b="0" dirty="0" err="1">
                <a:solidFill>
                  <a:srgbClr val="666666"/>
                </a:solidFill>
                <a:latin typeface="Microsoft YaHei"/>
              </a:rPr>
              <a:t>等，校內本科宿位約</a:t>
            </a:r>
            <a:r>
              <a:rPr sz="1000" b="0" dirty="0">
                <a:solidFill>
                  <a:srgbClr val="666666"/>
                </a:solidFill>
                <a:latin typeface="Microsoft YaHei"/>
              </a:rPr>
              <a:t> 9,500+（</a:t>
            </a:r>
            <a:r>
              <a:rPr sz="1000" b="0" dirty="0" err="1">
                <a:solidFill>
                  <a:srgbClr val="666666"/>
                </a:solidFill>
                <a:latin typeface="Microsoft YaHei"/>
              </a:rPr>
              <a:t>招生冊</a:t>
            </a:r>
            <a:r>
              <a:rPr sz="1000" b="0" dirty="0">
                <a:solidFill>
                  <a:srgbClr val="666666"/>
                </a:solidFill>
                <a:latin typeface="Microsoft YaHei"/>
              </a:rPr>
              <a:t>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82224"/>
              </p:ext>
            </p:extLst>
          </p:nvPr>
        </p:nvGraphicFramePr>
        <p:xfrm>
          <a:off x="320040" y="1389888"/>
          <a:ext cx="7891272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書院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宿位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住宿模式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2025/26 宿費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非本地生政策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崇基學院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1,448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四年一宿·申請制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16,826/年（標準）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按書院計分分配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新亞書院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1,470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四年一宿·申請制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17,280/年（標準）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N-2：首兩年後須遴選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聯合書院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1,538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四年一宿·申請制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見書院公布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非本地生保證首兩年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逸夫書院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1,211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四年一宿·申請制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見書院公布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按書院計分分配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晨興書院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300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chemeClr val="tx1"/>
                          </a:solidFill>
                          <a:latin typeface="Microsoft YaHei"/>
                        </a:rPr>
                        <a:t>全宿共膳·四年住校</a:t>
                      </a:r>
                      <a:endParaRPr sz="900" b="1" dirty="0">
                        <a:solidFill>
                          <a:schemeClr val="tx1"/>
                        </a:solidFill>
                        <a:latin typeface="Microsoft YaHei"/>
                      </a:endParaRP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見書院公布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非本地生不可選校外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善衡書院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600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chemeClr val="tx1"/>
                          </a:solidFill>
                          <a:latin typeface="Microsoft YaHei"/>
                        </a:rPr>
                        <a:t>全宿共膳·四年住校</a:t>
                      </a:r>
                      <a:endParaRPr sz="900" b="1" dirty="0">
                        <a:solidFill>
                          <a:schemeClr val="tx1"/>
                        </a:solidFill>
                        <a:latin typeface="Microsoft YaHei"/>
                      </a:endParaRP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見書院公布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非本地生不可選校外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敬文書院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302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chemeClr val="tx1"/>
                          </a:solidFill>
                          <a:latin typeface="Microsoft YaHei"/>
                        </a:rPr>
                        <a:t>全宿共膳·四年住校</a:t>
                      </a:r>
                      <a:endParaRPr sz="900" b="1" dirty="0">
                        <a:solidFill>
                          <a:schemeClr val="tx1"/>
                        </a:solidFill>
                        <a:latin typeface="Microsoft YaHei"/>
                      </a:endParaRP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17,774/年（宿費）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非本地生不可選校外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伍宜孫書院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604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chemeClr val="tx1"/>
                          </a:solidFill>
                          <a:latin typeface="Microsoft YaHei"/>
                        </a:rPr>
                        <a:t>四年一宿·申請制</a:t>
                      </a:r>
                      <a:endParaRPr sz="900" b="0" dirty="0">
                        <a:solidFill>
                          <a:schemeClr val="tx1"/>
                        </a:solidFill>
                        <a:latin typeface="Microsoft YaHei"/>
                      </a:endParaRP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見書院公布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按書院計分分配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和聲書院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640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四年一宿·申請制</a:t>
                      </a:r>
                      <a:endParaRPr sz="9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icrosoft YaHei"/>
                        </a:rPr>
                        <a:t>見書院公布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按書院計分分配</a:t>
                      </a:r>
                      <a:endParaRPr sz="9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511703"/>
              </p:ext>
            </p:extLst>
          </p:nvPr>
        </p:nvGraphicFramePr>
        <p:xfrm>
          <a:off x="320040" y="4572000"/>
          <a:ext cx="8805672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設施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宿位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對象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費用參考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Microsoft YaHei"/>
                        </a:rPr>
                        <a:t>國際生堂 I-House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Microsoft YaHei"/>
                        </a:rPr>
                        <a:t>~598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Microsoft YaHei"/>
                        </a:rPr>
                        <a:t>本科生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/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Microsoft YaHei"/>
                        </a:rPr>
                        <a:t>研究生宿舍 PGH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Microsoft YaHei"/>
                        </a:rPr>
                        <a:t>1,000–1,500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Microsoft YaHei"/>
                        </a:rPr>
                        <a:t>研究式/教資會修課式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HKD 1,685–4,055/月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蔡繼有宿舍（聯合</a:t>
                      </a:r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）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250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2025 </a:t>
                      </a:r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啟用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/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Microsoft YaHei"/>
                        </a:rPr>
                        <a:t>崇基 E 計劃雙子樓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Microsoft YaHei"/>
                        </a:rPr>
                        <a:t>+300（在建）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Microsoft YaHei"/>
                        </a:rPr>
                        <a:t>2026/27 落成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/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4630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400" b="1">
                <a:solidFill>
                  <a:srgbClr val="C00000"/>
                </a:solidFill>
                <a:latin typeface="Microsoft YaHei"/>
              </a:rPr>
              <a:t>三、學生住宿市場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8368"/>
            <a:ext cx="1152144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749808"/>
            <a:ext cx="128016" cy="2377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" name="TextBox 6"/>
          <p:cNvSpPr txBox="1"/>
          <p:nvPr/>
        </p:nvSpPr>
        <p:spPr>
          <a:xfrm>
            <a:off x="512064" y="722375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C00000"/>
                </a:solidFill>
                <a:latin typeface="Microsoft YaHei"/>
              </a:rPr>
              <a:t>2、校外學生公寓（OSA 學生專享優惠）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115488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 err="1">
                <a:solidFill>
                  <a:srgbClr val="666666"/>
                </a:solidFill>
                <a:latin typeface="Microsoft YaHei"/>
              </a:rPr>
              <a:t>來源：OSA「CUHK</a:t>
            </a:r>
            <a:r>
              <a:rPr sz="900" b="0" dirty="0">
                <a:solidFill>
                  <a:srgbClr val="666666"/>
                </a:solidFill>
                <a:latin typeface="Microsoft YaHei"/>
              </a:rPr>
              <a:t> Student-Exclusive Offers」。</a:t>
            </a:r>
            <a:r>
              <a:rPr sz="900" b="0" dirty="0" err="1">
                <a:solidFill>
                  <a:srgbClr val="666666"/>
                </a:solidFill>
                <a:latin typeface="Microsoft YaHei"/>
              </a:rPr>
              <a:t>以下為正式學生公寓</a:t>
            </a:r>
            <a:r>
              <a:rPr sz="900" b="0" dirty="0">
                <a:solidFill>
                  <a:srgbClr val="666666"/>
                </a:solidFill>
                <a:latin typeface="Microsoft YaHei"/>
              </a:rPr>
              <a:t>/</a:t>
            </a:r>
            <a:r>
              <a:rPr sz="900" b="0" dirty="0" err="1">
                <a:solidFill>
                  <a:srgbClr val="666666"/>
                </a:solidFill>
                <a:latin typeface="Microsoft YaHei"/>
              </a:rPr>
              <a:t>酒店長租選項；沙田三間距中大最近。迎林為中大</a:t>
            </a:r>
            <a:r>
              <a:rPr sz="900" b="0" dirty="0">
                <a:solidFill>
                  <a:srgbClr val="666666"/>
                </a:solidFill>
                <a:latin typeface="Microsoft YaHei"/>
              </a:rPr>
              <a:t> 2025 認可合作（2026 </a:t>
            </a:r>
            <a:r>
              <a:rPr sz="900" b="0" dirty="0" err="1">
                <a:solidFill>
                  <a:srgbClr val="666666"/>
                </a:solidFill>
                <a:latin typeface="Microsoft YaHei"/>
              </a:rPr>
              <a:t>收尾中</a:t>
            </a:r>
            <a:r>
              <a:rPr sz="900" b="0" dirty="0">
                <a:solidFill>
                  <a:srgbClr val="666666"/>
                </a:solidFill>
                <a:latin typeface="Microsoft YaHei"/>
              </a:rPr>
              <a:t>），</a:t>
            </a:r>
            <a:r>
              <a:rPr sz="900" b="0" dirty="0" err="1">
                <a:solidFill>
                  <a:srgbClr val="666666"/>
                </a:solidFill>
                <a:latin typeface="Microsoft YaHei"/>
              </a:rPr>
              <a:t>詳見下頁</a:t>
            </a:r>
            <a:r>
              <a:rPr sz="900" b="0" dirty="0">
                <a:solidFill>
                  <a:srgbClr val="666666"/>
                </a:solidFill>
                <a:latin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36192"/>
            <a:ext cx="1828800" cy="308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C00000"/>
                </a:solidFill>
                <a:latin typeface="Microsoft YaHei"/>
              </a:rPr>
              <a:t>酒店長租（近中大）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755648"/>
          <a:ext cx="8805672" cy="169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名稱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地點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類型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月租（港幣）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聯絡資訊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800" dirty="0">
                          <a:solidFill>
                            <a:srgbClr val="333333"/>
                          </a:solidFill>
                          <a:latin typeface="Microsoft YaHei"/>
                        </a:rPr>
                        <a:t>ALVA Hotel by Royal</a:t>
                      </a:r>
                      <a:br>
                        <a:rPr dirty="0"/>
                      </a:br>
                      <a:r>
                        <a:rPr dirty="0" err="1"/>
                        <a:t>帝逸酒店</a:t>
                      </a:r>
                      <a:endParaRPr dirty="0"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沙田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酒店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$17,100起/房</a:t>
                      </a:r>
                      <a:br/>
                      <a:r>
                        <a:t>（合租$8,550起）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/>
                        </a:rPr>
                        <a:t>(852)3653 1286</a:t>
                      </a:r>
                      <a:br>
                        <a:rPr dirty="0"/>
                      </a:br>
                      <a:r>
                        <a:rPr dirty="0"/>
                        <a:t>leasing@alva.com.hk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Aspire House</a:t>
                      </a:r>
                      <a:br/>
                      <a:r>
                        <a:t>麗豪酒店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沙田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酒店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$8,750起/床</a:t>
                      </a:r>
                      <a:br/>
                      <a:r>
                        <a:t>（雙人房）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(852)2132 1329</a:t>
                      </a:r>
                      <a:br/>
                      <a:r>
                        <a:t>sales@riverside.regalhotel.com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800" dirty="0">
                          <a:solidFill>
                            <a:srgbClr val="333333"/>
                          </a:solidFill>
                          <a:latin typeface="Microsoft YaHei"/>
                        </a:rPr>
                        <a:t>Royal Park Hotel</a:t>
                      </a:r>
                      <a:br>
                        <a:rPr dirty="0"/>
                      </a:br>
                      <a:r>
                        <a:rPr dirty="0" err="1"/>
                        <a:t>帝都酒店</a:t>
                      </a:r>
                      <a:endParaRPr dirty="0"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沙田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酒店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$23,760起/房</a:t>
                      </a:r>
                      <a:br/>
                      <a:r>
                        <a:t>（合租$11,880起）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/>
                        </a:rPr>
                        <a:t>(852)2694 3893</a:t>
                      </a:r>
                      <a:br>
                        <a:rPr dirty="0"/>
                      </a:br>
                      <a:r>
                        <a:rPr dirty="0"/>
                        <a:t>sales@royalpark.com.hk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273552"/>
            <a:ext cx="2286000" cy="308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C00000"/>
                </a:solidFill>
                <a:latin typeface="Microsoft YaHei"/>
              </a:rPr>
              <a:t>共居 / 學生公寓品牌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493008"/>
          <a:ext cx="8805672" cy="2163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名稱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地點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類型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月租（港幣）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聯絡資訊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Contented Living 安怡居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多區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共享居所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$3,800起/床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(852)3619 4662</a:t>
                      </a:r>
                      <a:br/>
                      <a:r>
                        <a:t>info@contentedlivings.com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Sunny House 日新舍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啟德/旺角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共享居所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啟德$7,624起</a:t>
                      </a:r>
                      <a:br/>
                      <a:r>
                        <a:t>旺角$8,645起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(852)6822 4533</a:t>
                      </a:r>
                      <a:br/>
                      <a:r>
                        <a:t>leasing@sunnyhouse.hk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Weave Studios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太子/奧運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共享居所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太子$8,550起</a:t>
                      </a:r>
                      <a:br/>
                      <a:r>
                        <a:t>奧運$9,416起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(852)2155 1400</a:t>
                      </a:r>
                      <a:br/>
                      <a:r>
                        <a:t>live.hk@weave-living.com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迎林 Parkwood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大埔美新里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學生宿舍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$5,335起/床</a:t>
                      </a:r>
                      <a:br/>
                      <a:r>
                        <a:t>（官網）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/>
                        </a:rPr>
                        <a:t>(852)2375 2888</a:t>
                      </a:r>
                      <a:br>
                        <a:rPr dirty="0"/>
                      </a:br>
                      <a:r>
                        <a:rPr dirty="0"/>
                        <a:t>parkwood.com.hk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4630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400" b="1">
                <a:solidFill>
                  <a:srgbClr val="C00000"/>
                </a:solidFill>
                <a:latin typeface="Microsoft YaHei"/>
              </a:rPr>
              <a:t>三、學生住宿市場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8368"/>
            <a:ext cx="1152144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749808"/>
            <a:ext cx="128016" cy="2377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722375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C00000"/>
                </a:solidFill>
                <a:latin typeface="Microsoft YaHei"/>
              </a:rPr>
              <a:t>3、重點對標：迎林 Parkwood（官網優先）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11548872" cy="6645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dirty="0">
                <a:solidFill>
                  <a:srgbClr val="333333"/>
                </a:solidFill>
                <a:latin typeface="Microsoft YaHei"/>
              </a:rPr>
              <a:t>位置：大埔美新里3號｜122伙改床位｜恒地管理；單位含開放式廚房、獨立衛浴，包差餉、管理費及Wi-Fi（官網）</a:t>
            </a:r>
          </a:p>
          <a:p>
            <a:pPr algn="l">
              <a:lnSpc>
                <a:spcPct val="128000"/>
              </a:lnSpc>
            </a:pPr>
            <a:r>
              <a:rPr sz="1000" b="0" dirty="0">
                <a:solidFill>
                  <a:srgbClr val="333333"/>
                </a:solidFill>
                <a:latin typeface="Microsoft YaHei"/>
              </a:rPr>
              <a:t>官網整戶月租：二人戶17,340、三人戶17,340、四人戶21,340 </a:t>
            </a:r>
            <a:endParaRPr lang="en-US" sz="1000" dirty="0">
              <a:solidFill>
                <a:srgbClr val="333333"/>
              </a:solidFill>
              <a:latin typeface="Microsoft YaHei"/>
            </a:endParaRPr>
          </a:p>
          <a:p>
            <a:pPr algn="l">
              <a:lnSpc>
                <a:spcPct val="128000"/>
              </a:lnSpc>
            </a:pPr>
            <a:r>
              <a:rPr sz="1000" b="0" dirty="0" err="1">
                <a:solidFill>
                  <a:srgbClr val="333333"/>
                </a:solidFill>
                <a:latin typeface="Microsoft YaHei"/>
              </a:rPr>
              <a:t>補充（新聞</a:t>
            </a:r>
            <a:r>
              <a:rPr sz="1000" b="0" dirty="0">
                <a:solidFill>
                  <a:srgbClr val="333333"/>
                </a:solidFill>
                <a:latin typeface="Microsoft YaHei"/>
              </a:rPr>
              <a:t>）：中大2025認可合作；按金11,000；預繳11.5個月租金；2026年合作收尾中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2011680"/>
          <a:ext cx="7132320" cy="1746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房型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官網月租金</a:t>
                      </a:r>
                      <a:br/>
                      <a:r>
                        <a:t>（元/月/人）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折算9個月</a:t>
                      </a:r>
                      <a:br/>
                      <a:r>
                        <a:t>月租（元/月）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使用面積</a:t>
                      </a:r>
                      <a:br/>
                      <a:r>
                        <a:t>（平方呎）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呎價</a:t>
                      </a:r>
                      <a:br/>
                      <a:r>
                        <a:t>（元/呎）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四人同租（床位）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5,335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6,817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~107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~50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三人同租（床位）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5,780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7,386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~117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~49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二人同租（床位）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8,670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11,078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~156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~56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03920" y="2057400"/>
            <a:ext cx="33375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dirty="0" err="1">
                <a:solidFill>
                  <a:srgbClr val="333333"/>
                </a:solidFill>
                <a:latin typeface="Microsoft YaHei"/>
              </a:rPr>
              <a:t>中大官方唯一認可校外宿舍標竿；官網定價</a:t>
            </a:r>
            <a:r>
              <a:rPr sz="1000" b="0" dirty="0">
                <a:solidFill>
                  <a:srgbClr val="333333"/>
                </a:solidFill>
                <a:latin typeface="Microsoft YaHei"/>
              </a:rPr>
              <a:t> 5,335–8,670 元/月/</a:t>
            </a:r>
            <a:r>
              <a:rPr sz="1000" b="0" dirty="0" err="1">
                <a:solidFill>
                  <a:srgbClr val="333333"/>
                </a:solidFill>
                <a:latin typeface="Microsoft YaHei"/>
              </a:rPr>
              <a:t>人（視房型</a:t>
            </a:r>
            <a:r>
              <a:rPr sz="1000" b="0" dirty="0">
                <a:solidFill>
                  <a:srgbClr val="333333"/>
                </a:solidFill>
                <a:latin typeface="Microsoft YaHei"/>
              </a:rPr>
              <a:t>）。</a:t>
            </a:r>
            <a:r>
              <a:rPr sz="1000" b="0" dirty="0" err="1">
                <a:solidFill>
                  <a:srgbClr val="333333"/>
                </a:solidFill>
                <a:latin typeface="Microsoft YaHei"/>
              </a:rPr>
              <a:t>雖合作收尾，仍為近校學生公寓產品與定價參考</a:t>
            </a:r>
            <a:r>
              <a:rPr sz="1000" b="0" dirty="0">
                <a:solidFill>
                  <a:srgbClr val="333333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4630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400" b="1">
                <a:solidFill>
                  <a:srgbClr val="C00000"/>
                </a:solidFill>
                <a:latin typeface="Microsoft YaHei"/>
              </a:rPr>
              <a:t>三、學生住宿市場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8368"/>
            <a:ext cx="1152144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749808"/>
            <a:ext cx="128016" cy="2377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722375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C00000"/>
                </a:solidFill>
                <a:latin typeface="Microsoft YaHei"/>
              </a:rPr>
              <a:t>4、小結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234440"/>
          <a:ext cx="115488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7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維度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判斷</a:t>
                      </a:r>
                    </a:p>
                  </a:txBody>
                  <a:tcPr marL="38100" marR="38100" marT="25400" marB="254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需求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校內覆蓋約半數本科，校外 9,000+ 人次/學年粗算缺口；非本地擴招推升剛性外租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校內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9,500+ 書院宿 + I-House/PGH；蔡繼有（250）、E計劃（+300）在建擴容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校外公寓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OSA清單：沙田酒店 + 全港共居品牌；近校品牌化供給仍稀缺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迎林锚点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官網 5,335–8,670 元/月/人；折算9個月 6,800–11,100；中大認可標竿</a:t>
                      </a:r>
                    </a:p>
                  </a:txBody>
                  <a:tcPr marL="38100" marR="38100" marT="25400" marB="25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對黃宜坳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大埔走廊具填補缺口潛力；需實測通勤 + 對標迎林房型/呎租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6446520"/>
            <a:ext cx="115488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dirty="0" err="1">
                <a:solidFill>
                  <a:srgbClr val="666666"/>
                </a:solidFill>
                <a:latin typeface="Microsoft YaHei"/>
              </a:rPr>
              <a:t>資料來源：OSA、CUHK</a:t>
            </a:r>
            <a:r>
              <a:rPr sz="900" b="0" dirty="0">
                <a:solidFill>
                  <a:srgbClr val="666666"/>
                </a:solidFill>
                <a:latin typeface="Microsoft YaHei"/>
              </a:rPr>
              <a:t> Facts 2024、parkwood.com.hk、星島/HK01 2025–2026 ｜ 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704</Words>
  <Application>Microsoft Office PowerPoint</Application>
  <PresentationFormat>寬螢幕</PresentationFormat>
  <Paragraphs>199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Microsoft YaHei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XIE, Yujie</cp:lastModifiedBy>
  <cp:revision>3</cp:revision>
  <dcterms:created xsi:type="dcterms:W3CDTF">2013-01-27T09:14:16Z</dcterms:created>
  <dcterms:modified xsi:type="dcterms:W3CDTF">2026-06-12T11:31:57Z</dcterms:modified>
  <cp:category/>
</cp:coreProperties>
</file>